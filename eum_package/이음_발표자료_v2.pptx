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안녕하십니까, 팀 이음입니다. 저희는 '생활인구는 왜 지역 소비로 이어지지 않는가'라는 질문에서 출발해, 경남 13개 인구감소지역의 카드매출과 생활인구를 결합해 소비 전환을 직접 측정했습니다.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발표는 네 단계입니다. 문제 정의, 측정 방법, 분석 결과, 그리고 개선방안과 기대효과 순으로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왜 이 주제를 선택했는지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정책은 사람이 없으니 상권이 죽는다는 전제였습니다. 그런데 데이터를 보면 방문은 많은데 소비가 없는 지역이 따로 있습니다. 그래서 질문을 바꿨습니다 — 있는 사람이 왜 소비로 이어지지 않는가.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왜 지금이냐. 생활인구가 법으로 공식 통계가 됐고, 연 1조 원 기금이 우리 분석 대상 11곳 전부에 배분되며, 2026년부터 기금이 '머무는 사업' 우선으로 바뀌었습니다. 측정 수단과 실행 재원이 모두 준비된 시점입니다.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분석은 다섯 단계입니다. 데이터 결합, 지표 설계, 유형화, 원인과 효과 검증, 그리고 실행안. 전 과정은 시드 고정으로 재현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다음은 무엇으로 측정했는지입니다.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데이터는 6종입니다. 핵심은 경남 허브 카드매출과 KOSIS 생활인구의 결합이고, 검증용으로 관광소비·상가·국세청 자료까지 썼습니다. 대상 13곳은 행안부 지정 기준입니다.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핵심지표 MI는 연간 카드매출을 생활인구로 나눈 로그값입니다. 음수면 방문 대비 소비가 부족하다는 뜻입니다. 분모를 정주인구가 아니라 생활인구로 둔 게 차별점입니다. 위험점수 산식과 가중치는 보고서에 공개했습니다.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분석 결과입니다. 발견 세 가지를 차례로 보여드립니다.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발견, 양극화입니다. 1인당 소비가 합천과 통영 사이 7.6배 차이 납니다. 인구감소지역을 한 덩어리로 보면 안 된다는 뜻입니다. 오른쪽 매트릭스에서 13곳이 뚜렷이 네 성격으로 갈립니다.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둘째, 13곳은 네 유형으로 나뉩니다. 지도를 보시면 침체형이 서부 내륙에 벨트처럼 이어져 있습니다. 단발 사례가 아니라 구조라는 뜻이고, 광역 대응의 근거가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셋째, 산청의 역설입니다. 성수기 방문이 72% 늘어 13곳 최고인데, 정작 소비의 78%가 운송·쇼핑 같은 통과소비입니다. 체류는 1.8%뿐. 카드 데이터와 관광공사 데이터, 서로 다른 두 출처가 같은 결론을 가리킵니다.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그래서 어디부터냐. 위험점수 기준 하동, 함양, 합천, 남해, 의령 순입니다. 중요한 건 강건성입니다. 가중치를 3천 번 흔들어도 TOP5가 바뀌지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왜 위험한가를 분해했습니다. 소비전환을 끌어내리는 건 매출 추세, 업종 쏠림, 야간 부재 순입니다. 그리고 지역마다 1순위가 다릅니다. 하동은 야간, 함양·산청은 업종 집중. 그래서 개선책이 달라야 합니다. 표본이 13개라 탐색적 분석임은 명시했습니다.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개선하면 나아지는가. 1인당 월 천 원만 올려도 위험점수가 측정 가능하게 떨어지고, 개선 안 한 8곳은 정확히 0 변화입니다. 효과가 대상에만 귀속된다는 걸 모델로 보였습니다.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개선방안과 기대효과입니다.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개선은 유형별로 다릅니다. 정주형은 지역화폐 환류, 산청은 통과를 체류로, 하동·함양은 체류 상품과 비수기 보완, 안정 지역은 거점으로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위험 1위 하동은 실행안까지 설계했습니다. 상가 데이터로 하동읍·진교면의 체류 인프라 공백을 특정했고, 주체와 재원, KPI까지 명시했습니다. 객단가와 위험점수는 공식 통계로 분기마다 추적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실현 가능성입니다. 돈은 이미 있습니다. 연 1조 기금이 우리 대상 11곳 전부에 배분되고, 2026년부터 머무는 사업 우선입니다. 그리고 같은 방안이 강진에서 5개월 만에 58.7억 원 실적을 냈습니다. 저희 방안은 검증된 모델 위에 서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기대효과는 소비부족형 3곳에서만 연 78억입니다. 1인당 월 천 원, 커피 한 잔 값 미만의 가정이고, 산출 근거는 부록에 전부 공개했습니다. 강진이 5개월에 58.7억을 실측으로 냈으니 과장이 아닙니다. 다만 탐색적 추정임은 분명히 밝힙니다.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침체의 축은 인구가 아니라 소비 전환입니다. 이음은 어디가, 왜, 무엇을 해야 하는지까지 답하는 재현 가능한 프레임입니다.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경상남도 빅데이터 활용 공모전 — 1부문 · 빅데이터 분석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이음</a:t>
            </a:r>
            <a:pPr indent="0" marL="0">
              <a:buNone/>
            </a:pPr>
            <a:r>
              <a:rPr lang="en-US" sz="96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02920" y="2606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생활인구는 왜 지역 소비로 이어지지 않는가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32004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경남 13개 인구감소지역 · 생활인구 대비 카드매출 부족 위험도 분석과 지역 유형 분류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4224528"/>
            <a:ext cx="81381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370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 김재민 · 강원준 · 오수환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9080" y="4370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 2024 카드매출 3종(경남 허브) + KOSIS 생활인구 외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차례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138160" y="274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단계로 말씀드립니다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34416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EF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0020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주제선정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80060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‘사람 수’가 아니라 ‘소비 전환’인가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600200" y="1984248"/>
            <a:ext cx="70408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3055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EF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600200" y="22037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핵심지표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00600" y="22494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측정했나 — MI와 9개 지표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600200" y="2770632"/>
            <a:ext cx="70408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1693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EF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600200" y="29900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00600" y="30358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발견, 위험 우선순위, 원인과 효과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600200" y="3557016"/>
            <a:ext cx="70408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03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EF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600200" y="3776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개선방안 · 기대효과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800600" y="3822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유형별 개선, 실행 설계, 실현 가능성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36576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0" b="1" dirty="0">
                <a:solidFill>
                  <a:srgbClr val="EFEF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1000" dirty="0"/>
          </a:p>
        </p:txBody>
      </p:sp>
      <p:sp>
        <p:nvSpPr>
          <p:cNvPr id="3" name="Shape 1"/>
          <p:cNvSpPr/>
          <p:nvPr/>
        </p:nvSpPr>
        <p:spPr>
          <a:xfrm>
            <a:off x="530352" y="3310128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" y="312724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주제선정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" y="37673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문제는 ‘사람 수’가 아니다 — 질문을 바꾸면 답이 달라집니다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— 주제선정 · 문제 제기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138160" y="274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전제는 현실의 절반만 설명한다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0" cy="155448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전제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“사람이 없으니 상권이 죽는다”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정주인구 중심의 분석 → 유입 확대 일변도의 정책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8348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데이터의 현실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8348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방문은 적지 않은데, 소비가 없다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983480" y="2148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방문에 기댄 구조에서는 매출이 오히려 감소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154680"/>
            <a:ext cx="8138160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832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</a:t>
            </a:r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문제는 사람이 없는 것인가,  아니면 있는 사람이 소비로 이어지지 않는 것인가</a:t>
            </a:r>
            <a:pPr indent="0" marL="0">
              <a:buNone/>
            </a:pPr>
            <a:r>
              <a:rPr lang="en-US" sz="19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”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71830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카드매출(실제 소비) × 생활인구(실제 방문 흐름)를 결합해 ‘소비 전환’을 직접 측정합니다.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— 주제선정 · 왜 지금인가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138160" y="274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수요와 측정 수단이 모두 갖춰진 시점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생활인구의 법제화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2487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「인구감소지역 지원 특별법」(2022)으로 생활인구가 공식 통계가 됐다. 행정이 매년 갱신·검증한다.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72968" y="1463040"/>
            <a:ext cx="0" cy="201168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00984" y="1371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00984" y="19202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기금 — 연 1조 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00984" y="2331720"/>
            <a:ext cx="2487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지방소멸대응기금이 인구감소지역 89곳에 집중 배분된다. 본 분석 대상 경남 11곳 전부가 대상이다.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71032" y="1463040"/>
            <a:ext cx="0" cy="201168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9048" y="1371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099048" y="19202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운용 전환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99048" y="2331720"/>
            <a:ext cx="2487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기금이 시설 중심에서 ‘사람이 들어오고 머무는 사업’ 우선으로 바뀌었다. 본 연구와 정확히 같은 방향이다.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8862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E-um의 MI·위험점수는 기금 투자계획의 우선순위와 성과지표(KPI)로 그대로 쓸 수 있다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71830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분석을 위한 통계와 실행을 위한 재원이 이미 존재 — 지금이 분석 적기입니다.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— 주제선정 · 분석 로드맵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138160" y="274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분석에서 실행안까지, 한 흐름으로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2212848"/>
            <a:ext cx="81381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0916" y="2180844"/>
            <a:ext cx="64008" cy="6400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27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3957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결합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카드매출 3종 × 생활인구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53412" y="2180844"/>
            <a:ext cx="64008" cy="6400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2185416" y="1627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85416" y="23957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핵심지표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85416" y="274320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 설계 + 9개 지표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35908" y="2180844"/>
            <a:ext cx="64008" cy="6400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3867912" y="1627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67912" y="23957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67912" y="274320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K-means 4유형 · 위험점수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18404" y="2180844"/>
            <a:ext cx="64008" cy="6400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5550408" y="1627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50408" y="23957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원인·효과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50408" y="274320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Detect·Simulate 검증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00900" y="2180844"/>
            <a:ext cx="64008" cy="640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7232904" y="1627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32904" y="23957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개선방안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32904" y="274320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유형별 개선 · 실행 KPI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38862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과정 재현 가능 — K-means · RandomForest 모두 random_state=42 고정, 코드와 데이터 공개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71830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‘어디가 위험한가’에서 멈추지 않고 ‘왜, 그래서 무엇을’까지 답하는 구조입니다.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36576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0" b="1" dirty="0">
                <a:solidFill>
                  <a:srgbClr val="EFEF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1000" dirty="0"/>
          </a:p>
        </p:txBody>
      </p:sp>
      <p:sp>
        <p:nvSpPr>
          <p:cNvPr id="3" name="Shape 1"/>
          <p:cNvSpPr/>
          <p:nvPr/>
        </p:nvSpPr>
        <p:spPr>
          <a:xfrm>
            <a:off x="530352" y="3310128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" y="312724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핵심지표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" y="37673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공공·민간 6종 융합 — 분모를 바꾸면 보이는 것들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— 데이터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138160" y="274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6종 데이터 융합, 13개 시군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카드매출 3종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331720" y="1344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경남 빅데이터 허브 · 월별/시간대/성연령 (2024)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709928"/>
            <a:ext cx="51206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01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생활인구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31720" y="18196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KOSIS(통계청·행안부) · 통신3사 기반 월 체류 합계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185416"/>
            <a:ext cx="51206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768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관광소비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331720" y="22951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한국관광 데이터랩 · 13개 시군 업종 구조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660904"/>
            <a:ext cx="51206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523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상가정보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31720" y="2770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소상공인시장진흥공단 · 점포/체류 인프라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136392"/>
            <a:ext cx="51206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278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행정경계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33172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통계청 KOSTAT · 지도 시각화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611880"/>
            <a:ext cx="51206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03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사업자현황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331720" y="37216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국세청 100대 생활업종 · 외부 검증 시도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0" y="1371600"/>
            <a:ext cx="0" cy="274320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280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6400" dirty="0"/>
          </a:p>
        </p:txBody>
      </p:sp>
      <p:sp>
        <p:nvSpPr>
          <p:cNvPr id="24" name="Text 22"/>
          <p:cNvSpPr/>
          <p:nvPr/>
        </p:nvSpPr>
        <p:spPr>
          <a:xfrm>
            <a:off x="635508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시군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26517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행안부 지정 인구감소지역 11곳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관심지역 2곳(통영·사천).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13곳만 생활인구 통계가 제공된다.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71830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경남 허브 탑재 데이터(카드매출) 활용 — 공모전 필수 요건 충족. 22곳 전수 분석 후 13곳 정밀 분석.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— 핵심지표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138160" y="274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 — 생활인구 대비 카드소비 수준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 = log ( 연간 카드매출 ÷ 연평균 생활인구 ) − 13곳 평균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음수 = 방문 대비 소비 부족.  </a:t>
            </a:r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분모가 정주인구가 아닌 ‘생활인구’ — 실제 방문 흐름 대비 소비를 잰다는 점이 차별점이다.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81381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위험점수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090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0.40·MI + 0.25·CPC + 0.20·LRR + 0.15·TREND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3520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가설(MI)에 최대 가중 — 산식·가중치 보고서에 공개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83480" y="27614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CPC  </a:t>
            </a:r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1인당 월 소비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03720" y="27614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  </a:t>
            </a:r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계절(관광) 의존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32369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LRR  </a:t>
            </a:r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경남 소비자 비중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03720" y="32369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CDI  </a:t>
            </a:r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 다양성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37124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NAR  </a:t>
            </a:r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활성도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03720" y="37124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TREND  </a:t>
            </a:r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연중 매출 추세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71830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측정하지 못하던 ‘소비 전환’을 지수 하나로 — 보조지표 6종이 원인 해석을 받칩니다.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36576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0" b="1" dirty="0">
                <a:solidFill>
                  <a:srgbClr val="EFEF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1000" dirty="0"/>
          </a:p>
        </p:txBody>
      </p:sp>
      <p:sp>
        <p:nvSpPr>
          <p:cNvPr id="3" name="Shape 1"/>
          <p:cNvSpPr/>
          <p:nvPr/>
        </p:nvSpPr>
        <p:spPr>
          <a:xfrm>
            <a:off x="530352" y="3310128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" y="312724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" y="37673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발견 — 양극화 · 4유형 · 산청의 역설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— 발견 ① 양극화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138160" y="274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‘인구감소지역’ 안에 7.6배의 격차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7.6</a:t>
            </a:r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521208" y="26517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1인당 월 카드소비(CPC)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합천 11,380원  —  통영 86,764원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3429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군 단위인 거창–합천도 5.7배. ‘인구감소지역 = 일률적 침체’라는 통념을 데이터가 반박한다. 개선책도 일률적일 수 없다.</a:t>
            </a:r>
            <a:endParaRPr lang="en-US" sz="1150" dirty="0"/>
          </a:p>
        </p:txBody>
      </p:sp>
      <p:pic>
        <p:nvPicPr>
          <p:cNvPr id="8" name="Image 0" descr="C:/Users/PC/Desktop/빅데이터/깃허브/eum_analysis/phase2/p2_fig1_MI_LRR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234440"/>
            <a:ext cx="4160520" cy="31272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471830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— MI × LRR 분석 매트릭스: 13개 시군이 네 성격으로 갈립니다 (원 크기 = 생활인구).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— 발견 ② 4유형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138160" y="274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유형 — 침체는 서부 내륙의 ‘벨트’</a:t>
            </a:r>
            <a:endParaRPr lang="en-US" sz="2500" dirty="0"/>
          </a:p>
        </p:txBody>
      </p:sp>
      <p:pic>
        <p:nvPicPr>
          <p:cNvPr id="5" name="Image 0" descr="C:/Users/PC/Desktop/빅데이터/깃허브/eum_analysis/phase2/p2_fig5_map_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2926080" cy="32826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86200" y="1325880"/>
            <a:ext cx="109728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방문대비 소비부족형   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산청 · 의령 · 합천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0" y="155448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 &lt; −0.6, CPC &lt; 1.7만 — 방문 대비 소비가 끊긴다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114800" y="1920240"/>
            <a:ext cx="45262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86200" y="2167128"/>
            <a:ext cx="109728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8"/>
          <p:cNvSpPr/>
          <p:nvPr/>
        </p:nvSpPr>
        <p:spPr>
          <a:xfrm>
            <a:off x="4114800" y="20756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외지방문 의존형   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하동 · 함양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0" y="239572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외지 소비 의존에 매출 감소세가 겹친 이중 위험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114800" y="2761488"/>
            <a:ext cx="45262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86200" y="3008376"/>
            <a:ext cx="109728" cy="109728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0" y="291693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혼합 경계형   </a:t>
            </a:r>
            <a:pPr indent="0" marL="0">
              <a:buNone/>
            </a:pPr>
            <a:r>
              <a:rPr lang="en-US" sz="120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남해 · 고성 · 창녕 · 함안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114800" y="323697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악화 시 침체형으로 전락할 수 있는 감시 대상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114800" y="3602736"/>
            <a:ext cx="45262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86200" y="3849624"/>
            <a:ext cx="109728" cy="10972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0" y="37581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 안정형  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통영 · 사천 · 거창 · 밀양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114800" y="407822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광역 소비 연계의 거점으로 활용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471830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침체형이 서부 내륙(하동·함양·산청·합천·의령)에 띠처럼 연속 — 광역 단위 대응의 근거.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— 발견 ③ 산청의 역설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138160" y="274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산청 — 방문은 13곳 최고, 소비는 바닥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+72%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331720" y="143560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성수기 생활인구 증가 (STI 0.718 · 13곳 최고)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130552"/>
            <a:ext cx="37947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95144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1.8%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331720" y="240487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관광소비 중 체류성(숙박+여가) — 78%는 통과 소비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099816"/>
            <a:ext cx="37947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6440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19.2%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331720" y="3374136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야간(18~23시) 매출 비중 — 밤에 머물지 않는다</a:t>
            </a:r>
            <a:endParaRPr lang="en-US" sz="1050" dirty="0"/>
          </a:p>
        </p:txBody>
      </p:sp>
      <p:pic>
        <p:nvPicPr>
          <p:cNvPr id="13" name="Image 0" descr="C:/Users/PC/Desktop/빅데이터/깃허브/eum_analysis/phase2/p2_fig12_touri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280160"/>
            <a:ext cx="4160520" cy="244144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26280" y="38862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“낮에 왔다 그냥 가는 통과형” — MI가 아니면 보이지 않는 현상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471830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— 13곳 체류 vs 통과 소비구조(데이터랩): 산청 체류전환 2.3 최저. 독립 출처가 같은 결론.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— 위험 우선순위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138160" y="274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어디부터 — 위험점수 TOP 5</a:t>
            </a:r>
            <a:endParaRPr lang="en-US" sz="2500" dirty="0"/>
          </a:p>
        </p:txBody>
      </p:sp>
      <p:pic>
        <p:nvPicPr>
          <p:cNvPr id="5" name="Image 0" descr="C:/Users/PC/Desktop/빅데이터/깃허브/eum_analysis/phase2/p2_fig6_map_ri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3246120" cy="3172968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234440"/>
          <a:ext cx="457200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1051560"/>
                <a:gridCol w="100584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8C8C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8C8C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8C8C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위험점수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8C8C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하동군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0.865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외지방문 의존형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함양군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0.778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외지방문 의존형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합천군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0.775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방문대비 소비부족형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남해군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0.709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혼합 경계형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의령군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0.702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방문대비 소비부족형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114800" y="3886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강건성 —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가중치를 ±0.05로 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3,000회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무작위 교란해도 TOP5 집합 100% 동일, 하동은 항상 1위.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471830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우선순위는 가중치 선택의 자의성에 흔들리지 않습니다 — 어디부터 손댈지가 명확합니다.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— 이음-Detect · 원인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138160" y="274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‘어디가’를 넘어 ‘무엇 때문에’</a:t>
            </a:r>
            <a:endParaRPr lang="en-US" sz="2500" dirty="0"/>
          </a:p>
        </p:txBody>
      </p:sp>
      <p:pic>
        <p:nvPicPr>
          <p:cNvPr id="5" name="Image 0" descr="C:/Users/PC/Desktop/빅데이터/깃허브/eum_analysis/phase2/p2_fig8_shap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4160520" cy="27523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92040" y="128016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MI를 끌어내리는 구조 요인 (RandomForest + SHAP)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TREND(매출 감소세)  &gt;  CDI(업종 집중)  &gt;  NAR(야간 부재)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89204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하동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92240" y="2304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상권 부재(NAR)가 1순위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92040" y="2743200"/>
            <a:ext cx="37947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92040" y="28529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함양 · 산청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92240" y="28712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 집중(CDI)이 1순위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92040" y="3310128"/>
            <a:ext cx="37947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34198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합천 · 남해 · 의령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92240" y="34381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감소세(TREND)가 1순위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892040" y="40690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n=13 탐색적 분석 — 인과 확정이 아니라 개선 우선순위 탐색용 (random_state 고정)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471830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유형 안에서도 1순위 요인이 다릅니다 — 지역마다 개선 포인트가 달라야 하는 이유.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— 이음-Simulate · 효과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138160" y="274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개선하면 정말 나아지는가 — 반사실 시뮬레이션</a:t>
            </a:r>
            <a:endParaRPr lang="en-US" sz="2500" dirty="0"/>
          </a:p>
        </p:txBody>
      </p:sp>
      <p:pic>
        <p:nvPicPr>
          <p:cNvPr id="5" name="Image 0" descr="C:/Users/PC/Desktop/빅데이터/깃허브/eum_analysis/phase2/p2_fig10_simulate_ri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4160520" cy="30266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92040" y="132588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 — 방문 1인당 월 +1,000원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 한 잔 값 미만의 최소 개입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892040" y="21488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합천 0.775 → 0.756   ·   하동 0.865 → 0.848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92040" y="2697480"/>
            <a:ext cx="37947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92040" y="28803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미적용 8곳의 변화 = 정확히 0</a:t>
            </a:r>
            <a:endParaRPr lang="en-US" sz="145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효과가 대상 지역에만 온전히 귀속됨을 모델로 증명. 외부 데이터 없이 자체 지표 체계를 재계산하는 시나리오 분석이다.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471830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개입의 효과를 수치로 먼저 확인 — 정책 실험 전에 모델로 검증하는 구조입니다.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36576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0" b="1" dirty="0">
                <a:solidFill>
                  <a:srgbClr val="EFEF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1000" dirty="0"/>
          </a:p>
        </p:txBody>
      </p:sp>
      <p:sp>
        <p:nvSpPr>
          <p:cNvPr id="3" name="Shape 1"/>
          <p:cNvSpPr/>
          <p:nvPr/>
        </p:nvSpPr>
        <p:spPr>
          <a:xfrm>
            <a:off x="530352" y="3310128"/>
            <a:ext cx="146304" cy="1463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" y="312724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개선방안 · 기대효과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" y="37673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유형별로 다르게, 실행 가능하게, 검증된 모델 위에서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— 유형별 방안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138160" y="274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‘넓게 분석, 좁게 해결’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정주형 소비부족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468880" y="140817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합천 · 의령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886200" y="138988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생활밀착 업종 객단가 제고 + 지역화폐·페이백으로 경남 외 소비 회수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81838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396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관광 통과형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468880" y="21762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산청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86200" y="215798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관광 동선에 결제 가능한 로컬 상점 클러스터 + 야간·숙박 연계로 당일 방문을 1박 체류로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743200"/>
            <a:ext cx="81838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077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외지방문 의존형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468880" y="29443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하동 · 함양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886200" y="29260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방문객을 묶는 체류·연계 상품 + 계절 편중 완화(비수기 보완)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511296"/>
            <a:ext cx="81838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758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 안정 거점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468880" y="371246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거창 · 통영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886200" y="36941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 지역을 인접 침체지역과 잇는 광역 소비 연계 거점으로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71830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침체라도 원인이 다르면 개선도 다릅니다 — 원인 분석(Detect)이 그대로 방안의 근거가 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— 실행 설계 · 하동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138160" y="274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1위 하동 — 실행과 KPI까지</a:t>
            </a:r>
            <a:endParaRPr lang="en-US" sz="2500" dirty="0"/>
          </a:p>
        </p:txBody>
      </p:sp>
      <p:pic>
        <p:nvPicPr>
          <p:cNvPr id="5" name="Image 0" descr="C:/Users/PC/Desktop/빅데이터/깃허브/eum_analysis/phase2/p2_fig13_hadong_sh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3931920" cy="26791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0050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하동읍·진교면 — 점포는 많지만 체류 인프라가 비어 있는 1순위 지역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709160" y="13258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89320" y="134416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체류·야간 콘텐츠 유치 + 지역화폐 페이백 + 화개–하동읍 동선 연계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2130552"/>
            <a:ext cx="39776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9160" y="22951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주체 · 재원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89320" y="231343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하동군 · 소상공인시장진흥공단 / 지방소멸대응기금 기초지원계정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09160" y="3099816"/>
            <a:ext cx="39776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326440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89320" y="3282696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객단가 13,240 → 14,240원 · 위험점수 0.865 → 0.848 · 분기 추적(공식 생활인구 통계)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471830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분석을 ‘집행 가능한 실행안’으로 — 누가, 무슨 돈으로, 무엇을 지표로 삼는지까지.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— 실현 가능성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138160" y="274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재원·제도 없이, 지금 바로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0" cy="292608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재원 — 이미 편성돼 있다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1조 원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지방소멸대응기금 × 10년. 기초지원계정의 95%를 인구감소지역 89곳에 집중 — 경남 11곳 전부가 대상.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‘머무는 사업 우선’ 전환 → MI·위험점수가 곧 기금의 우선순위·KPI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834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모델 — 강진 반값여행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83480" y="1691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58.7억 원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983480" y="251460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소비액 50%를 지역화폐로 환급하는 체류·소비 전환 모델. 2025년 1~5월, 4만 724팀이 1,453개 업소에서 실측.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83480" y="342900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지역사랑상품권 환전율 99.8% — 역내 환류 실증. 산청·합천·의령 방안의 직접 사례.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71830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(a) 편성된 기금 + (b) 법제화된 통계 + (c) 타 지자체 검증 성과 — 분석이 아니라 실행안입니다.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— 기대효과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138160" y="274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 한 잔 값 미만의 변화가 만드는 총량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</a:t>
            </a:r>
            <a:pPr algn="ctr" indent="0" marL="0">
              <a:buNone/>
            </a:pPr>
            <a:r>
              <a:rPr lang="en-US" sz="84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+78억</a:t>
            </a:r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방문대비 소비부족형 3곳(산청·의령·합천) · 방문 1인당 월 +1,000원 가정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246120"/>
            <a:ext cx="81381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429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7307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연평균 생활인구 × 12개월 × Δ객단가. 산출 근거는 부록 A에 전면 공개.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00984" y="3429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00984" y="37307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강진군이 5개월 만에 58.7억 실측 — 달성 가능한 규모임을 보여주는 외부 준거.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99048" y="3429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99048" y="37307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탐색적 추정 — 규모감(order of magnitude) 제시가 목적이며 정밀 예측이 아님.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71830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생활인구는 ‘방문 흐름의 합계’ — 작은 1인당 변화가 큰 총량 효과로 이어집니다.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8138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침체의 축은 인구가 아니라,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 전환입니다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2920" y="3200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E-um은 ‘어디가 침체됐는가’를 넘어 ‘왜, 그래서 무엇을’까지 답하는 재현 가능한 분석 프레임입니다.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4160520"/>
            <a:ext cx="81381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3159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9080" y="43708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이음 — 김재민 · 강원준 · 오수환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이음(E-um) — 2026 경상남도 빅데이터 활용 공모전</dc:title>
  <dc:subject>PptxGenJS Presentation</dc:subject>
  <dc:creator>팀 이음</dc:creator>
  <cp:lastModifiedBy>팀 이음</cp:lastModifiedBy>
  <cp:revision>1</cp:revision>
  <dcterms:created xsi:type="dcterms:W3CDTF">2026-06-11T14:45:00Z</dcterms:created>
  <dcterms:modified xsi:type="dcterms:W3CDTF">2026-06-11T14:45:00Z</dcterms:modified>
</cp:coreProperties>
</file>