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677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0879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생활인구는 왜</a:t>
            </a:r>
            <a:endParaRPr lang="en-US" sz="4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소비로 이어지지 않는가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13개 인구감소지역 · 카드매출 3종 × KOSIS 생활인구 — 위험도 분석과 지역 유형 분류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E-um</a:t>
            </a: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김재민 · 강원준 · 오수환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6053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80160" y="27432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12064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</a:t>
            </a: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120640" y="2258568"/>
            <a:ext cx="320040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120640" y="2606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</a:t>
            </a: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20640" y="3172968"/>
            <a:ext cx="320040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120640" y="3520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</a:t>
            </a: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20640" y="4087368"/>
            <a:ext cx="320040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120640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</a:t>
            </a: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이음(E-um)의 설계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120640" y="5001768"/>
            <a:ext cx="320040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64108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</a:t>
            </a: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41080" y="2258568"/>
            <a:ext cx="320040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641080" y="2606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</a:t>
            </a: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정책 방안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41080" y="3172968"/>
            <a:ext cx="320040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41080" y="3520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</a:t>
            </a: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기대효과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641080" y="4087368"/>
            <a:ext cx="320040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641080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</a:t>
            </a: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및 향후 과제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641080" y="5001768"/>
            <a:ext cx="320040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개요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제기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인구감소지역 상권 정책의 오랜 전제 — “사람이 없으니 상권이 죽는다” — 는 현실의 절반만 설명한다.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“문제는 사람이 없는 것인가,</a:t>
            </a:r>
            <a:endParaRPr lang="en-US" sz="25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 사람이 소비로 이어지지 않는 것인가?”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371600" y="4069080"/>
            <a:ext cx="9509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경남 순이동 −9,069명(통계청) — 정주인구 감소는 구조적 상수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371600" y="4672584"/>
            <a:ext cx="95097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71600" y="4727448"/>
            <a:ext cx="9509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인구가 적지 않은데도 지역 소비가 일어나지 않는 지역이 있다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371600" y="5330952"/>
            <a:ext cx="95097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71600" y="5385816"/>
            <a:ext cx="9509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정책 여력은 ‘생활인구를 소비로 전환’하는 데 집중될 수밖에 없다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371600" y="5989320"/>
            <a:ext cx="95097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분석 대상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13개 시군인가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 지정 인구감소지역 11곳 + 관심지역 2곳 — KOSIS 생활인구가 제공되는 전체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4480560" cy="35661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11480" y="2240280"/>
            <a:ext cx="45720" cy="35661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인구감소지역 (11)
</a:t>
            </a: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밀양 · 의령 · 함안 · 창녕 · 고성 · 남해
하동 · 산청 · 함양 · 거창 · 합천
</a:t>
            </a:r>
            <a:r>
              <a:rPr 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관심지역 (2)
</a:t>
            </a: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통영 · 사천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40680" y="228600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 </a:t>
            </a: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시급성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26700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지정 인구감소·관심지역 — 정책 우선 대상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40680" y="3154680"/>
            <a:ext cx="63093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40680" y="342900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 </a:t>
            </a: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가용성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35040" y="38130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13곳만 KOSIS 생활인구 제공 → 핵심 지표 MI·CPC 산출 가능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40680" y="4297680"/>
            <a:ext cx="63093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40680" y="457200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 </a:t>
            </a: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대표성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35040" y="49560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도시(통영·사천·밀양)–산간(산청·함양)–해안(남해·고성) 포괄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40680" y="5440680"/>
            <a:ext cx="63093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40680" y="58064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22개 전수(Phase 1) 분석 후 13곳(Phase 2)으로 정밀 분석 — 보고서의 중심은 Phase 2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데이터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데이터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빅데이터 5종을 결합 — 카드매출(소비)과 생활인구(방문 흐름)의 결합이 분석의 출발점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148840"/>
          <a:ext cx="11375136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카드매출 3종 (월별 · 시간대별 · 성연령별)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경남 빅데이터 허브플랫폼 (2024)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LRR · CDI · TREND · NAR · AGI · YR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생활인구 (인구감소지역)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KOSIS — 통계청 · 행안부, 통신3사 기반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 · CPC · STI  (핵심 지표)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시군구 행정경계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통계청 KOSTAT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침체유형 · 위험점수 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관광소비 (업종 · 체류/통과)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한국관광 데이터랩 (신한카드)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관광형 개선 — 체류 전환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상가정보 (읍·면별 점포)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소상공인시장진흥공단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카드의 공간 근거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58978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재현 가능 — K-means · RandomForest 모두 random_state=42 고정, 시군명 표준화 사전으로 표기 통일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데이터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보여준 두 가지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없이 데이터를 먼저 보았다 — 두 관찰이 연구의 방향을 결정했다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①  인구감소지역 안에도 양극화 — 7.6배
</a:t>
            </a: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1인당 월 소비: 합천 11,380원 vs 통영 86,764원. 같은 군 단위인 거창과 합천도 5.7배.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263640" y="2011680"/>
            <a:ext cx="5532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②  산청 — 방문은 최고, 소비는 절반
</a:t>
            </a: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성수기 생활인구 +72%(13곳 최대), 1인당 월 16,536원(평균의 절반), 야간 매출 19.2%. “낮에 왔다 그냥 가는” 방문.</a:t>
            </a:r>
            <a:endParaRPr lang="en-US" sz="1550" dirty="0"/>
          </a:p>
        </p:txBody>
      </p:sp>
      <p:pic>
        <p:nvPicPr>
          <p:cNvPr id="12" name="Image 0" descr="C:\Users\PC\Desktop\빅데이터\깃허브\eum_package\unpacked_v7b\word\media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3108960"/>
            <a:ext cx="7104888" cy="28712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83664" y="6035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1.  (a) 방문 1인당 월 소비액(2024) · (b) 월별 생활인구(1월=100)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데이터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소결 — 측정되지 않는 ‘소비 전환’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방문(생활인구)의 크기와 소비(카드매출)의 크기는</a:t>
            </a:r>
            <a:endParaRPr lang="en-US" sz="2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비례하지 않는다.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374904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간극의 크기와 원인은 지역마다 다르다.</a:t>
            </a:r>
            <a:endParaRPr lang="en-US" sz="14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기존 통계와 분석 어디에도 “방문이 소비로 전환되는 정도”를 직접 재는 지표는 없었다.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041648" y="4983480"/>
            <a:ext cx="4114800" cy="64008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041648" y="4983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공백을 메우기 위해 이음(E-um)을 설계했다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이음(E-um)의 설계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MI를 만든 이유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방문과 소비를 ‘잇는’ 지표 — 생활인구가 지역 소비로 전환되는 정도를 직접 잰다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11375136" cy="9601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54864" cy="9601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(Mismatch Index)  =  </a:t>
            </a:r>
            <a:r>
              <a:rPr lang="en-US" sz="17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ln( 연간매출 / 연평균 생활인구 ) − 13곳 평균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분모가 정주인구가 아니라 생활인구 — 실제 체류 흐름 기준 (「인구감소지역 지원 특별법」 2022 공식 지표)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087368"/>
            <a:ext cx="108813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414223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생활인구는 등록인구의 약 4배(통계청 2024) — 정주인구 기준 분석은 체류 흐름을 크게 과소평가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709160"/>
            <a:ext cx="108813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47640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 환산: e^MI = 평균적 지역 대비 배율 — 합천(−1.016)은 평균의 1/3, 통영(+1.015)은 2.8배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5330952"/>
            <a:ext cx="108813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5800" y="538581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상권분석은 생활인구를 ‘규모’로만 활용 — 소비 전환 효율은 어디서도 측정하지 않았다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5952744"/>
            <a:ext cx="108813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이음(E-um)의 설계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지표 체계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3장의 관찰을 그대로 산식으로 — ★ 생활인구 결합으로 새로 가능해진 핵심 지표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103120"/>
          <a:ext cx="11375136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MI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ln(연간매출/연평균 생활인구) − 13곳 평균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음수 = 소비전환 취약 (e^MI = 평균 대비 배율)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CPC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연간매출 / 생활인구 / 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 1인당 월 소비 흡수력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STI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성수기(6~8월)/비수기(1~3월) 생활인구 − 1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 = 관광·계절 의존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유입지가 경남인 매출 / 전체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 = 외부유입 소비 의존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CDI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업종별 매출 Shannon Entropy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 = 업종 집중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18~23시 매출 / 전체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 = 야간 체류 약함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60대+ 매출 비중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 = 고령 소비 의존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30대 이하 매출 비중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 = 청년 소비 이탈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매출 회귀 기울기 / 평균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음수 = 2024년 내 감소세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5870448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 = 0.40·MI′ + 0.25·CPC′ + 0.20·LRR′ + 0.15·TREND′   (13곳 min-max 정규화 · 낮을수록 위험인 지표는 부호 반전)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분석 결과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유형화 — 침체 4유형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지표 표준화 → K-means(k=4, random_state=42) — 탐색적 분류, 유형명은 사후 해석 라벨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3337560" cy="4754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1480" y="214884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방문대비 소비부족형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산청 · 의령 · 합천
</a:t>
            </a: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전부 &lt; −0.6 · CPC &lt; 1.7만 원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대비 소비가 끊긴다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31920" y="2148840"/>
            <a:ext cx="3337560" cy="4754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931920" y="214884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외지방문 의존형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269748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 · 함양
</a:t>
            </a: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외 소비자 의존(LRR↓) + 매출 감소세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위험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4160520"/>
            <a:ext cx="3337560" cy="475488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1480" y="416052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경계형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70916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남해 · 창녕 · 고성 · 함안
</a:t>
            </a: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침체·안정 특성 혼재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악화 시 전락 위험 — 감시 대상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31920" y="4160520"/>
            <a:ext cx="3337560" cy="475488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931920" y="416052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안정형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470916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밀양 · 거창 · 사천 · 통영
</a:t>
            </a: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양수 · CPC 상위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광역 소비 연계 거점으로 활용</a:t>
            </a:r>
            <a:endParaRPr lang="en-US" sz="1250" dirty="0"/>
          </a:p>
        </p:txBody>
      </p:sp>
      <p:pic>
        <p:nvPicPr>
          <p:cNvPr id="22" name="Image 0" descr="C:\Users\PC\Desktop\빅데이터\깃허브\eum_package\unpacked_v7b\word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40280"/>
            <a:ext cx="3977640" cy="29900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772400" y="52852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3. PCA 평면 — 네 군집이 겹치지 않는다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분석 결과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지역 핵심 지표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 = 0.40·MI′ + 0.25·CPC′ + 0.20·LRR′ + 0.15·TREND′ — 음영 = 우선 개선 TOP 5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084832"/>
          <a:ext cx="11375136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CPC(원/월)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침체유형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위험점수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하동군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−0.865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13,240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−0.132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0.729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−0.004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외지방문 의존형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0.865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함양군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−0.151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27,037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0.602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0.655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−0.014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외지방문 의존형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0.778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합천군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−1.016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11,380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0.065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0.767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0.016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방문대비 소비부족형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0.775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남해군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−0.610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17,074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0.154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0.743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0.013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혼합 경계형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0.709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의령군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−0.963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12,001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0.022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0.870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0.015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방문대비 소비부족형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0.702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산청군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−0.642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16,536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0.718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0.930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0.009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방문대비 소비부족형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0.613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창녕군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0.016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31,927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−0.088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0.772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0.004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혼합 경계형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0.561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고성군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0.168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37,170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0.048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0.928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−0.002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혼합 경계형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0.439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밀양시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0.529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53,357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0.182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0.807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0.006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안정형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0.358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함안군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0.822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71,516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0.069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0.787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0.005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혼합 경계형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0.255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거창군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0.727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65,036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0.226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0.896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0.004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안정형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0.227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사천시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0.969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82,844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0.083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0.901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0.009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안정형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0.093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통영시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1.015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86,764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0.101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0.955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0.003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안정형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0.065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610819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개선 대상 TOP 5: 하동 · 함양 · 합천 · 남해 · 의령 — 가중치 ±0.05 무작위 교란(N=3,000)에도 집합 100% 동일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분석 결과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분포 — 서부 내륙의 침체 벨트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침체는 단발 사례가 아니라 공간적으로 인접한 구조다 — 광역 단위 개선의 근거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42976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하동·함양·산청·합천·의령이 서부 내륙에 띠처럼 연속 분포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191256"/>
            <a:ext cx="429768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42976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해안·도심 접근성이 좋은 통영·사천·밀양은 소비 안정형으로 분리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4059936"/>
            <a:ext cx="429768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1480" y="4114800"/>
            <a:ext cx="42976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 지도: 하동·함양이 가장 진하다 — 최우선 개선 대상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928616"/>
            <a:ext cx="429768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C:\Users\PC\Desktop\빅데이터\깃허브\eum_package\unpacked_v7b\word\media\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103120"/>
            <a:ext cx="3246120" cy="3639312"/>
          </a:xfrm>
          <a:prstGeom prst="rect">
            <a:avLst/>
          </a:prstGeom>
        </p:spPr>
      </p:pic>
      <p:pic>
        <p:nvPicPr>
          <p:cNvPr id="17" name="Image 1" descr="C:\Users\PC\Desktop\빅데이터\깃허브\eum_package\unpacked_v7b\word\media\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103120"/>
            <a:ext cx="3246120" cy="31638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74920" y="57790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5. 침체유형 지도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549640" y="57790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6. 위험점수 지도 (라벨 = 순위·점수)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분석 결과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 구성 요인 분석 (이음-Detect)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“어디가 위험한가”에서 “무엇 때문에 위험한가”로 — 원인을 두 층위로 분해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5760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층위 ① 위험점수 정확 분해 (재현 오차 0)
</a:t>
            </a: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상위 8개 시군 전부에서 MI(소비전환 부족)가 1위 요인 — 기여율 30~56%
</a:t>
            </a: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층위 ② MI의 구조적 동인 (RandomForest + SHAP)
</a:t>
            </a: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전역: TREND(감소세) &gt; CDI(업종 집중) &gt; NAR(야간 약함)
시군별 1순위 — 합천·남해·의령: TREND / 하동: NAR / 함양·산청: CDI
</a:t>
            </a: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유형 안에서도 개선 우선순위가 달라야 한다</a:t>
            </a:r>
            <a:endParaRPr lang="en-US" sz="1400" dirty="0"/>
          </a:p>
        </p:txBody>
      </p:sp>
      <p:pic>
        <p:nvPicPr>
          <p:cNvPr id="11" name="Image 0" descr="C:\Users\PC\Desktop\빅데이터\깃허브\eum_package\unpacked_v7b\word\media\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03120"/>
            <a:ext cx="5257800" cy="3803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37960" y="59436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7. 위험점수 요인 분해 — 진빨강 = MI 기여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분석 결과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효과 시뮬레이션 (이음-Simulate)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“개선을 적용하면 정말 나아지는가” — 반사실(counterfactual) 입력으로 지표 체계 재계산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5760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1인당 월 +1,000원 — 커피 한 잔 값 미만
</a:t>
            </a: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대상 5곳(소비부족형 3 + 외지의존형 2)의 객단가 개선 가정
</a:t>
            </a: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대상만 위험점수 하락, 미적용 8곳은 Δ=0
</a:t>
            </a: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 0.775→0.756 · 의령 0.702→0.683 · 하동 0.865→0.848
효과가 대상 지역에 온전히 귀속됨을 확인
</a:t>
            </a: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강건성: 가중치 ±0.05 교란 N=3,000 → TOP 5 집합 100% 유지
</a:t>
            </a: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하동은 모든 경우 1위 — 우선순위는 가중치 선택에 흔들리지 않는다</a:t>
            </a:r>
            <a:endParaRPr lang="en-US" sz="1450" dirty="0"/>
          </a:p>
        </p:txBody>
      </p:sp>
      <p:pic>
        <p:nvPicPr>
          <p:cNvPr id="11" name="Image 0" descr="C:\Users\PC\Desktop\빅데이터\깃허브\eum_package\unpacked_v7b\word\media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03120"/>
            <a:ext cx="5257800" cy="3813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37960" y="59436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9. 개선 전·후 위험점수 — 개선 대상(진빨강)만 하락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분석 결과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방문대비 소비부족형은 우연이 아니다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근거가 같은 방향을 가리킨다 — 유형의 실재성이 6장 정책 설계의 출발점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3657600" cy="566928"/>
          </a:xfrm>
          <a:prstGeom prst="chevron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같은 증상이 반복된다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생활권인 산청·의령·합천이 MI &lt; −0.6 · CPC &lt; 1.7만 원 — 동일한 수치 조합. 세 곳이 서로를 교차 입증하는 반복 패턴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90672"/>
            <a:ext cx="10058" cy="210312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89120" y="2377440"/>
            <a:ext cx="3657600" cy="566928"/>
          </a:xfrm>
          <a:prstGeom prst="chevron">
            <a:avLst/>
          </a:prstGeom>
          <a:solidFill>
            <a:srgbClr val="7777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17720" y="23774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알고리즘이 묶었다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3154680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K-means는 가설을 모른 채 7개 지표만으로 군집화 — 정확히 이 세 곳을 한 유형으로 분류. PCA 평면에서 네 군집 분리(그림 3)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26280" y="3090672"/>
            <a:ext cx="10058" cy="210312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75320" y="2377440"/>
            <a:ext cx="3657600" cy="566928"/>
          </a:xfrm>
          <a:prstGeom prst="chevron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503920" y="23774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공간적으로 연속된다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0" y="3154680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우연이라면 산발적으로 흩어져야 한다 — 세 지역은 서부 내륙에 몰려 있고 하동·함양까지 띠처럼 이어진 침체 벨트(그림 5)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12480" y="3090672"/>
            <a:ext cx="10058" cy="210312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2920" y="5715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표본 13개의 탐색적 유형화라는 한계(8장) 안에서의 판단 — 그럼에도 세 근거가 모두 같은 방향을 가리킨다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유형별 정책 방안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“넓게 분석, 좁게 해결”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분석은 유형의 실재성을 입증하는 근거 — 개선은 유형군 단위로 심화 (단일 사례 편향 회피)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2724912" cy="5029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정주형 소비부족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78892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 · 의령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3246120"/>
            <a:ext cx="2578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생활밀착 업종 객단가 제고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지역화폐·페이백으로 소비 회수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773168"/>
            <a:ext cx="2176272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 +30.6억 · 의령 +17.5억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19272" y="2194560"/>
            <a:ext cx="2724912" cy="5029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19272" y="219456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 통과형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19272" y="278892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92424" y="3246120"/>
            <a:ext cx="2578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 동선 위 결제 가능 로컬 상점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야간·숙박 연계 — 1일을 1박으로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93592" y="4773168"/>
            <a:ext cx="2176272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64992" y="486460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산청 +30.2억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7064" y="2194560"/>
            <a:ext cx="2724912" cy="5029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27064" y="219456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외지방문 의존형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27064" y="278892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 · 함양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0216" y="3246120"/>
            <a:ext cx="2578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방문객을 묶는 체류·연계 상품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 편중 완화(비수기 보완)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01384" y="4773168"/>
            <a:ext cx="2176272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272784" y="486460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 +30.5억 · 함양 +22.2억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34856" y="2194560"/>
            <a:ext cx="2724912" cy="502920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134856" y="219456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연계 거점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34856" y="278892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거창 · 통영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08008" y="3246120"/>
            <a:ext cx="2578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 지역을 인접 침체지역과 잇는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광역 소비 연계 거점으로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409176" y="4773168"/>
            <a:ext cx="2176272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9180576" y="486460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거점·완충 역할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" y="58064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기대효과는 ‘방문 1인당 월 +1,000원’ 가정의 탐색적 추정 (산출 근거: 보고서 부록 A)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유형별 정책 방안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가능성 — 새 재원도, 새 제도도 필요 없다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편성된 기금 · 법제화된 지표 · 검증된 성과 위에 서 있는 실행안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96012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00200" y="224028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지방소멸대응기금과 정확히 맞물린다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27157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 1조 원 × 10년, 기초지원계정 95%를 인구감소지역에 배분 — 분석 대상 11곳 전부 해당. 2026년 운용방향이 ‘사람이 들어오고 머무는 사업’ 우선으로 전환 = 본 연구의 개선 방향과 일치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429000"/>
            <a:ext cx="113385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11480" y="3538728"/>
            <a:ext cx="96012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00200" y="3538728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생활인구는 법제화된 공식 통계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014216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「인구감소지역 지원 특별법」(2022)이 생활인구를 공식 지표화 — MI·CPC의 분모는 행정이 매년 갱신·검증, 별도 데이터 구축 없이 개선 효과 추적 가능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4727448"/>
            <a:ext cx="113385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11480" y="4837176"/>
            <a:ext cx="96012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1480" y="483717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600200" y="4837176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방안이 이미 성과를 냈다 — 전남 강진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5312664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‘반값여행’(소비액 50% 지역화폐 환급): 2025년 1~5월 초 4만 724팀, 군내 1,453개 업소에서 58.7억 원 소비 — 체류형 관광도시 대상 수상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결론 및 기대효과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9326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침체의 축은 인구가 아니라 ‘소비 전환’이다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7.6배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인구감소지역 내부의 양극화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 11,380원 vs 통영 86,764원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“일률적 침체” 통념을 데이터가 반박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090672"/>
            <a:ext cx="26517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38912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3891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 · 함양 · 합천 · 남해 · 의령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0560" y="36118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 기준 우선 개선 대상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유형별로 개선 방향이 다르다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3090672"/>
            <a:ext cx="26517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+78억/년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방문대비 소비부족형 3곳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66760" y="36118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월 +1,000원만으로 (탐색적 추정)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강진 실측 58.7억이 외부 준거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78240" y="3090672"/>
            <a:ext cx="2651760" cy="1005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167128" y="4983480"/>
            <a:ext cx="7863840" cy="77724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167128" y="49834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E-um은 “어디가 침체됐는가”를 넘어 “왜, 그래서 무엇을”까지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답하는 재현 가능한 분석 프레임이다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</a:t>
            </a:r>
            <a:r>
              <a:rPr lang="en-US" sz="13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74152" y="54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GyeongNam Big Data Contest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75136" cy="32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04120" y="6355080"/>
            <a:ext cx="1682496" cy="155448"/>
          </a:xfrm>
          <a:prstGeom prst="parallelogram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생활인구와 지역 소비를 잇다 — 이음(E-um)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E-um</a:t>
            </a: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김재민 · 강원준 · 오수환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2274</Words>
  <Application>Microsoft Office PowerPoint</Application>
  <PresentationFormat>와이드스크린</PresentationFormat>
  <Paragraphs>382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Malgun Gothic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재민 김</cp:lastModifiedBy>
  <cp:revision>2</cp:revision>
  <dcterms:created xsi:type="dcterms:W3CDTF">2026-06-12T16:47:58Z</dcterms:created>
  <dcterms:modified xsi:type="dcterms:W3CDTF">2026-06-12T16:49:15Z</dcterms:modified>
</cp:coreProperties>
</file>