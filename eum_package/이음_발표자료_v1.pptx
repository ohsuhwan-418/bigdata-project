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안녕하십니까, 팀 이음입니다. 저희는 '생활인구는 왜 지역 소비로 이어지지 않는가'라는 질문에서 출발해, 경남 13개 인구감소지역의 카드매출과 생활인구를 결합해 소비 전환을 직접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네 단계입니다. 문제 정의, 측정 방법, 분석 결과, 그리고 개선방안과 기대효과 순으로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왜 이 주제를 선택했는지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정책은 사람이 없으니 상권이 죽는다는 전제였습니다. 그런데 데이터를 보면 방문은 많은데 소비가 없는 지역이 따로 있습니다. 그래서 질문을 바꿨습니다 — 있는 사람이 왜 소비로 이어지지 않는가.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지금이냐. 생활인구가 법으로 공식 통계가 됐고, 연 1조 원 기금이 우리 분석 대상 11곳 전부에 배분되며, 2026년부터 기금이 '머무는 사업' 우선으로 바뀌었습니다. 측정 수단과 실행 재원이 모두 준비된 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분석은 다섯 단계입니다. 데이터 결합, 지표 설계, 유형화, 원인과 효과 검증, 그리고 실행안. 전 과정은 시드 고정으로 재현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무엇으로 측정했는지입니다.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데이터는 6종입니다. 핵심은 경남 허브 카드매출과 KOSIS 생활인구의 결합이고, 검증용으로 관광소비·상가·국세청 자료까지 썼습니다. 대상 13곳은 행안부 지정 기준입니다.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핵심지표 MI는 연간 카드매출을 생활인구로 나눈 로그값입니다. 음수면 방문 대비 소비가 부족하다는 뜻입니다. 분모를 정주인구가 아니라 생활인구로 둔 게 차별점입니다. 위험점수 산식과 가중치는 보고서에 공개했습니다.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분석 결과입니다. 발견 세 가지를 차례로 보여드립니다.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발견, 양극화입니다. 1인당 소비가 합천과 통영 사이 7.6배 차이 납니다. 인구감소지역을 한 덩어리로 보면 안 된다는 뜻입니다. 오른쪽 매트릭스에서 13곳이 뚜렷이 네 성격으로 갈립니다.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둘째, 13곳은 네 유형으로 나뉩니다. 지도를 보시면 침체형이 서부 내륙에 벨트처럼 이어져 있습니다. 단발 사례가 아니라 구조라는 뜻이고, 광역 대응의 근거가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셋째, 산청의 역설입니다. 성수기 방문이 72% 늘어 13곳 최고인데, 정작 소비의 78%가 운송·쇼핑 같은 통과소비입니다. 체류는 1.8%뿐. 카드 데이터와 관광공사 데이터, 서로 다른 두 출처가 같은 결론을 가리킵니다.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어디부터냐. 위험점수 기준 하동, 함양, 합천, 남해, 의령 순입니다. 중요한 건 강건성입니다. 가중치를 3천 번 흔들어도 TOP5가 바뀌지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위험한가를 분해했습니다. 소비전환을 끌어내리는 건 매출 추세, 업종 쏠림, 야간 부재 순입니다. 그리고 지역마다 1순위가 다릅니다. 하동은 야간, 함양·산청은 업종 집중. 그래서 개선책이 달라야 합니다. 표본이 13개라 탐색적 분석임은 명시했습니다.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개선하면 나아지는가. 1인당 월 천 원만 올려도 위험점수가 측정 가능하게 떨어지고, 개선 안 한 8곳은 정확히 0 변화입니다. 효과가 대상에만 귀속된다는 걸 모델로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개선방안과 기대효과입니다.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개선은 유형별로 다릅니다. 정주형은 지역화폐 환류, 산청은 통과를 체류로, 하동·함양은 체류 상품과 비수기 보완, 안정 지역은 거점으로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위험 1위 하동은 실행안까지 설계했습니다. 상가 데이터로 하동읍·진교면의 체류 인프라 공백을 특정했고, 주체와 재원, KPI까지 명시했습니다. 객단가와 위험점수는 공식 통계로 분기마다 추적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실현 가능성입니다. 돈은 이미 있습니다. 연 1조 기금이 우리 대상 11곳 전부에 배분되고, 2026년부터 머무는 사업 우선입니다. 그리고 같은 방안이 강진에서 5개월 만에 58.7억 원 실적을 냈습니다. 저희 방안은 검증된 모델 위에 서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기대효과는 소비부족형 3곳에서만 연 78억입니다. 1인당 월 천 원, 커피 한 잔 값 미만의 가정이고, 산출 근거는 부록에 전부 공개했습니다. 강진이 5개월에 58.7억을 실측으로 냈으니 과장이 아닙니다. 다만 탐색적 추정임은 분명히 밝힙니다.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침체의 축은 인구가 아니라 소비 전환입니다. 이음은 어디가, 왜, 무엇을 해야 하는지까지 답하는 재현 가능한 프레임입니다.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경상남도 빅데이터 활용 공모전 · 1부문(빅데이터 분석)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146304" cy="14630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" y="1490472"/>
            <a:ext cx="141732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7984" y="1417320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이음 (E-um)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생활인구는 왜 지역 소비로 이어지지 않는가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13개 인구감소지역 · 생활인구 대비 카드매출 부족 위험도 분석과 지역 유형 분류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4069080"/>
            <a:ext cx="2926080" cy="0"/>
          </a:xfrm>
          <a:prstGeom prst="line">
            <a:avLst/>
          </a:prstGeom>
          <a:noFill/>
          <a:ln w="12700">
            <a:solidFill>
              <a:srgbClr val="2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  김재민 · 강원준 · 오수환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 2024 카드매출 3종(경남 허브) + KOSIS 생활인구 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— 네 단계로 말씀드리겠습니다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050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34440"/>
            <a:ext cx="64008" cy="137160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99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17320" y="1435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주제선정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'사람 수'가 아니라 '소비 전환'인가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81728" y="1234440"/>
            <a:ext cx="40050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81728" y="1234440"/>
            <a:ext cx="64008" cy="137160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3990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41848" y="1435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핵심지표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41848" y="18928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측정했나 — MI와 9개 지표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050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64008" cy="1371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99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417320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4930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발견과 위험 우선순위, 원인·효과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81728" y="2834640"/>
            <a:ext cx="400507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834640"/>
            <a:ext cx="64008" cy="13716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999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641848" y="3035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개선방안 · 기대효과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41848" y="34930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개선, 실행 설계, 실현 가능성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058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566928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" y="3209544"/>
            <a:ext cx="914400" cy="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주제선정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'사람 수'가 아니다 — 질문을 바꾸면 답이 달라집니다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문제 제기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전제의 절반만 맞다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40050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43000"/>
            <a:ext cx="64008" cy="169164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전제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“사람이 없으니 상권이 죽는다”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정주인구 중심 진단 → 유입 확대 일변도 정책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81728" y="1143000"/>
            <a:ext cx="400507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143000"/>
            <a:ext cx="64008" cy="1691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보여주는 현실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16916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인구가 적지 않은데도 소비가 없는 지역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방문에 기댄 구조에서 매출이 오히려 감소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14300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“문제는 사람이 없는 것인가,  아니면 있는 사람이 소비로 이어지지 않는 것인가?”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카드매출(실제 소비) × 생활인구(실제 방문 흐름)를 결합해 ‘소비 전환’을 직접 측정합니다.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왜 지금인가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수요와 측정 수단이 모두 갖춰진 시점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64008" cy="233172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특별법 (2022)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생활인구가 법제화된 공식 통계로 산정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매년 행정이 갱신·검증하는 지표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(인구감소지역 지원 특별법)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73552" y="118872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188720"/>
            <a:ext cx="64008" cy="2331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기금 (연 1조 원)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지방소멸대응기금, 인구감소지역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89곳 집중 배분 — 본 분석 대상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11곳 전부가 배분 대상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9904" y="118872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188720"/>
            <a:ext cx="64008" cy="23317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운용 전환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291072" y="18288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중심 → ‘사람이 들어오고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머무는 사업’ 우선으로 전환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 연구 문제의식과 정확히 일치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E-um의 MI·위험점수는 기금 투자계획의 우선순위·성과지표(KPI)로 그대로 활용 가능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위한 통계(생활인구)와 실행을 위한 재원(기금)이 이미 존재 — 지금이 분석 적기입니다.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분석 로드맵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진단에서 실행안까지 — 한 흐름으로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536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63040"/>
            <a:ext cx="64008" cy="178308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결합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3504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카드매출 3종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생활인구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93392" y="2148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12848" y="1463040"/>
            <a:ext cx="1536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12848" y="1463040"/>
            <a:ext cx="64008" cy="178308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7" name="Text 15"/>
          <p:cNvSpPr/>
          <p:nvPr/>
        </p:nvSpPr>
        <p:spPr>
          <a:xfrm>
            <a:off x="235915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59152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핵심지표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359152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설계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+ 9개 지표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0" y="2148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968496" y="1463040"/>
            <a:ext cx="1536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68496" y="1463040"/>
            <a:ext cx="64008" cy="1783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114800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 4유형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 TOP5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04688" y="2148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724144" y="1463040"/>
            <a:ext cx="1536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24144" y="1463040"/>
            <a:ext cx="64008" cy="17830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5870448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70448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원인·효과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7044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Detect(요인)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Simulate(검증)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60336" y="214884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79792" y="1463040"/>
            <a:ext cx="15361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79792" y="1463040"/>
            <a:ext cx="64008" cy="178308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5" name="Text 33"/>
          <p:cNvSpPr/>
          <p:nvPr/>
        </p:nvSpPr>
        <p:spPr>
          <a:xfrm>
            <a:off x="7626096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26096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개선방안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626096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개선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실행·KPI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재현성: K-means · RandomForest 모두 random_state=42 고정,  코드·데이터 전 과정 공개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‘어디가 위험한가’에서 멈추지 않고 ‘왜, 그래서 무엇을’까지 답하는 구조입니다.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058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566928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" y="3209544"/>
            <a:ext cx="914400" cy="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핵심지표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공공·민간 6종 융합 — 분모를 바꾸면 보이는 것들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38528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4" name="Text 2"/>
          <p:cNvSpPr/>
          <p:nvPr/>
        </p:nvSpPr>
        <p:spPr>
          <a:xfrm>
            <a:off x="20482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수집 데이터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6종 데이터 융합 · 분석 대상 13개 시군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67004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64008" cy="102412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98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카드매출 3종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빅데이터 허브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월별·시간대·성연령(2024)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73552" y="1188720"/>
            <a:ext cx="267004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188720"/>
            <a:ext cx="64008" cy="102412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1298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56432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KOSIS(통계청·행안부)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통신3사 기반, 월 체류 합계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9904" y="1188720"/>
            <a:ext cx="267004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188720"/>
            <a:ext cx="64008" cy="10241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272784" y="12984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72784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한국관광 데이터랩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시군 업종 구조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95728"/>
            <a:ext cx="267004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395728"/>
            <a:ext cx="64008" cy="10241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505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상가정보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2807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소상공인시장진흥공단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점포·체류 인프라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73552" y="2395728"/>
            <a:ext cx="267004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2395728"/>
            <a:ext cx="64008" cy="10241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2505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행정경계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56432" y="2807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KOSTAT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시각화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9904" y="2395728"/>
            <a:ext cx="267004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2395728"/>
            <a:ext cx="64008" cy="10241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6272784" y="25054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사업자현황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272784" y="28072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국세청 100대 생활업종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 시도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지정 인구감소지역 11곳(밀양·의령·함안·창녕·고성·남해·하동·산청·함양·거창·합천) + 관심지역 2곳(통영·사천) — 이 13곳만 생활인구 통계 제공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허브 탑재 데이터(카드매출) 활용 — 공모전 필수 요건 충족.  22곳 전수 분석 후 13곳 정밀 분석.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938528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4" name="Text 2"/>
          <p:cNvSpPr/>
          <p:nvPr/>
        </p:nvSpPr>
        <p:spPr>
          <a:xfrm>
            <a:off x="20482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핵심지표 MI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— 생활인구 대비 카드소비 수준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937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64008" cy="155448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13716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 =  log( 연간 카드매출  ÷  연평균 생활인구 )  −  13곳 평균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3232" y="1920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= 방문 대비 소비 부족(소비전환 취약)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분모가 정주인구가 아닌 ‘생활인구’ — 실제 방문 흐름 대비 소비를 재는 것이 차별점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23560" y="1188720"/>
            <a:ext cx="3063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23560" y="1188720"/>
            <a:ext cx="64008" cy="155448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833872" y="1325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위험점수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33872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0.40·MI + 0.25·CPC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+ 0.20·LRR + 0.15·TREND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33872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가설(MI)에 최대 가중 — 설계 공개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70048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971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CPC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월 소비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73552" y="2971800"/>
            <a:ext cx="2670048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3438144" y="2971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계절(관광) 의존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9904" y="2971800"/>
            <a:ext cx="2670048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297180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LRR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소비자 비중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685032"/>
            <a:ext cx="2670048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685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CDI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다양성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73552" y="3685032"/>
            <a:ext cx="2670048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7" name="Text 25"/>
          <p:cNvSpPr/>
          <p:nvPr/>
        </p:nvSpPr>
        <p:spPr>
          <a:xfrm>
            <a:off x="3438144" y="3685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NAR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활성도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89904" y="3685032"/>
            <a:ext cx="2670048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54496" y="36850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연중 매출 추세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못 하던 ‘소비 전환’을 지수 하나로 — 보조지표 6종이 원인 해석을 받칩니다.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058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566928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" y="3209544"/>
            <a:ext cx="914400" cy="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발견 — 양극화 · 4유형 · 산청의 역설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19856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35295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① 양극화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‘인구감소지역’ 안에 7.6배 격차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7.6배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1인당 월 카드소비(CPC)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11,380원  vs  통영 86,764원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군 단위인 거창–합천도 5.7배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3611880" cy="77724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3566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“인구감소지역 = 일률적 침체”라는 통념을 데이터로 반박 → 개선책도 일률적일 수 없다</a:t>
            </a:r>
            <a:endParaRPr lang="en-US" sz="1150" dirty="0"/>
          </a:p>
        </p:txBody>
      </p:sp>
      <p:pic>
        <p:nvPicPr>
          <p:cNvPr id="13" name="Image 0" descr="C:/Users/PC/Desktop/빅데이터/깃허브/eum_analysis/phase2/p2_fig1_MI_LRR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234440"/>
            <a:ext cx="4251960" cy="31912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그림: MI × LRR 분석 매트릭스 — 13개 시군이 4개 성격으로 갈립니다 (원 크기 = 생활인구).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19856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35295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② 4유형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K-means 4유형 — 침체는 서부 내륙의 ‘벨트’</a:t>
            </a:r>
            <a:endParaRPr lang="en-US" sz="2300" dirty="0"/>
          </a:p>
        </p:txBody>
      </p:sp>
      <p:pic>
        <p:nvPicPr>
          <p:cNvPr id="9" name="Image 0" descr="C:/Users/PC/Desktop/빅데이터/깃허브/eum_analysis/phase2/p2_fig5_map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3383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703320" y="1097280"/>
            <a:ext cx="4983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03320" y="1097280"/>
            <a:ext cx="64008" cy="74980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2" name="Text 9"/>
          <p:cNvSpPr/>
          <p:nvPr/>
        </p:nvSpPr>
        <p:spPr>
          <a:xfrm>
            <a:off x="3913632" y="11704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   </a:t>
            </a:r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 · 의령 · 합천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913632" y="14904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 &lt; −0.6, CPC &lt; 1.7만 — 방문 대비 소비가 끊김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03320" y="1956816"/>
            <a:ext cx="4983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03320" y="1956816"/>
            <a:ext cx="64008" cy="74980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6" name="Text 13"/>
          <p:cNvSpPr/>
          <p:nvPr/>
        </p:nvSpPr>
        <p:spPr>
          <a:xfrm>
            <a:off x="3913632" y="20299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   </a:t>
            </a:r>
            <a:pPr indent="0" marL="0">
              <a:buNone/>
            </a:pPr>
            <a:r>
              <a:rPr lang="en-US" sz="1250" b="1" dirty="0">
                <a:solidFill>
                  <a:srgbClr val="B23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· 함양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913632" y="2350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 소비 의존 + 매출 감소세의 이중 위험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03320" y="2816352"/>
            <a:ext cx="4983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03320" y="2816352"/>
            <a:ext cx="64008" cy="7498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7"/>
          <p:cNvSpPr/>
          <p:nvPr/>
        </p:nvSpPr>
        <p:spPr>
          <a:xfrm>
            <a:off x="3913632" y="28895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경계형   </a:t>
            </a:r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남해 · 고성 · 창녕 · 함안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913632" y="32095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 시 침체형 전락 위험 — 감시 대상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703320" y="3675888"/>
            <a:ext cx="4983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03320" y="3675888"/>
            <a:ext cx="64008" cy="7498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1"/>
          <p:cNvSpPr/>
          <p:nvPr/>
        </p:nvSpPr>
        <p:spPr>
          <a:xfrm>
            <a:off x="3913632" y="3749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안정형   </a:t>
            </a:r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통영 · 사천 · 거창 · 밀양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913632" y="4069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연계 거점으로 활용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8" name="Text 25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침체형이 서부 내륙(하동·함양·산청·합천·의령)에 띠처럼 연속 — 광역 단위 대응의 근거.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19856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35295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 ③ 산청의 역설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산청 — 방문은 13곳 최고, 소비는 바닥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43000"/>
            <a:ext cx="64008" cy="960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25272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+72%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11680" y="123444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성수기 생활인구 증가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(STI 0.718 · 13곳 최고)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58568"/>
            <a:ext cx="64008" cy="9601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368296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11680" y="235000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관광소비 중 체류성(숙박+여가)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13곳 중 최저 — 78%는 통과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3566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74136"/>
            <a:ext cx="64008" cy="9601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483864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19.2%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011680" y="346557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야간(18~23시) 매출 비중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밤에 머물지 않는다</a:t>
            </a:r>
            <a:endParaRPr lang="en-US" sz="1050" dirty="0"/>
          </a:p>
        </p:txBody>
      </p:sp>
      <p:pic>
        <p:nvPicPr>
          <p:cNvPr id="21" name="Image 0" descr="C:/Users/PC/Desktop/빅데이터/깃허브/eum_analysis/phase2/p2_fig12_tour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325880"/>
            <a:ext cx="4480560" cy="2633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20624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“낮에 왔다 그냥 가는 통과형” — MI가 아니면 보이지 않는 현상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그림: 경남 13곳 체류 vs 통과 소비구조(데이터랩) — 산청 체류전환 2.3으로 최저, 독립 출처가 같은 결론.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19856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35295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우선순위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어디부터 — 위험점수 TOP 5</a:t>
            </a:r>
            <a:endParaRPr lang="en-US" sz="2300" dirty="0"/>
          </a:p>
        </p:txBody>
      </p:sp>
      <p:pic>
        <p:nvPicPr>
          <p:cNvPr id="9" name="Image 0" descr="C:/Users/PC/Desktop/빅데이터/깃허브/eum_analysis/phase2/p2_fig6_map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474720" cy="339242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160520" y="1097280"/>
            <a:ext cx="4526280" cy="45720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0916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하동군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943600" y="10972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0.865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1097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60520" y="1645920"/>
            <a:ext cx="4526280" cy="45720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6" name="Text 13"/>
          <p:cNvSpPr/>
          <p:nvPr/>
        </p:nvSpPr>
        <p:spPr>
          <a:xfrm>
            <a:off x="429768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709160" y="1645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함양군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94360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0.778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60520" y="2194560"/>
            <a:ext cx="4526280" cy="457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1" name="Text 18"/>
          <p:cNvSpPr/>
          <p:nvPr/>
        </p:nvSpPr>
        <p:spPr>
          <a:xfrm>
            <a:off x="429768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0916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합천군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943600" y="2194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0.775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160520" y="2743200"/>
            <a:ext cx="4526280" cy="457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Text 23"/>
          <p:cNvSpPr/>
          <p:nvPr/>
        </p:nvSpPr>
        <p:spPr>
          <a:xfrm>
            <a:off x="4297680" y="2743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70916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남해군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0" y="27432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0.709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580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혼합 경계형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160520" y="3291840"/>
            <a:ext cx="4526280" cy="4572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1" name="Text 28"/>
          <p:cNvSpPr/>
          <p:nvPr/>
        </p:nvSpPr>
        <p:spPr>
          <a:xfrm>
            <a:off x="429768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709160" y="3291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의령군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943600" y="32918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5800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160520" y="3913632"/>
            <a:ext cx="4526280" cy="54864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36" name="Text 33"/>
          <p:cNvSpPr/>
          <p:nvPr/>
        </p:nvSpPr>
        <p:spPr>
          <a:xfrm>
            <a:off x="4325112" y="39136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강건성: 가중치를 ±0.05로 3,000회 무작위 교란해도 TOP5 집합 100% 동일 · 하동 항상 1위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39" name="Text 36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우선순위는 가중치 선택의 자의성에 흔들리지 않습니다 — 어디부터 손댈지가 명확합니다.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19856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35295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이음-Detect · 원인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‘어디가’를 넘어 ‘무엇 때문에’ — 구조 요인 분석</a:t>
            </a:r>
            <a:endParaRPr lang="en-US" sz="2300" dirty="0"/>
          </a:p>
        </p:txBody>
      </p:sp>
      <p:pic>
        <p:nvPicPr>
          <p:cNvPr id="9" name="Image 0" descr="C:/Users/PC/Desktop/빅데이터/깃허브/eum_analysis/phase2/p2_fig8_shap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97680" cy="28437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83480" y="12344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 + SHAP 기여도 분해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MI(소비전환)를 끌어내리는 구조 요인: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TREND(매출 감소세) &gt; CDI(업종 집중) &gt; NAR(야간 부재)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983480" y="2514600"/>
            <a:ext cx="3703320" cy="43891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2" name="Text 9"/>
          <p:cNvSpPr/>
          <p:nvPr/>
        </p:nvSpPr>
        <p:spPr>
          <a:xfrm>
            <a:off x="5138928" y="25146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상권 부재(NAR)가 1순위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83480" y="3044952"/>
            <a:ext cx="3703320" cy="43891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5138928" y="304495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함양 · 산청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집중(CDI)이 1순위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83480" y="3575304"/>
            <a:ext cx="3703320" cy="438912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Text 13"/>
          <p:cNvSpPr/>
          <p:nvPr/>
        </p:nvSpPr>
        <p:spPr>
          <a:xfrm>
            <a:off x="5138928" y="357530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· 남해 · 의령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감소세(TREND)가 1순위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8348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n=13 탐색적 분석 — 인과 확정이 아닌 개선 우선순위 탐색용 (random_state 고정)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유형 안에서도 1순위 요인이 다릅니다 — 지역마다 개선 포인트가 달라야 하는 이유.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419856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/>
          <p:nvPr/>
        </p:nvSpPr>
        <p:spPr>
          <a:xfrm>
            <a:off x="35295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01184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이음-Simulate · 효과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개선하면 정말 나아지는가 — 반사실 시뮬레이션</a:t>
            </a:r>
            <a:endParaRPr lang="en-US" sz="2300" dirty="0"/>
          </a:p>
        </p:txBody>
      </p:sp>
      <p:pic>
        <p:nvPicPr>
          <p:cNvPr id="9" name="Image 0" descr="C:/Users/PC/Desktop/빅데이터/깃허브/eum_analysis/phase2/p2_fig10_simulate_ri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389120" cy="31912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0" y="12344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가정: 방문 1인당 월 +1,000원 (커피 한 잔 값 미만)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대상 5곳만 위험점수 하락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합천 0.775→0.756 · 하동 0.865→0.848 등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0" y="251460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2514600"/>
            <a:ext cx="64008" cy="9601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0"/>
          <p:cNvSpPr/>
          <p:nvPr/>
        </p:nvSpPr>
        <p:spPr>
          <a:xfrm>
            <a:off x="5230368" y="267004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미적용 8곳 변화 = 정확히 0 (Δ=0)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효과가 대상 지역에만 온전히 귀속됨을 모델로 증명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 없이 자체 지표 체계를 재계산하는 시나리오 분석 — 목표 객단가를 높이면 개선폭은 선형 확대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개입의 효과를 수치로 먼저 확인 — 정책 실험 전에 모델로 검증하는 구조입니다.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0584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2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566928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" name="Shape 2"/>
          <p:cNvSpPr/>
          <p:nvPr/>
        </p:nvSpPr>
        <p:spPr>
          <a:xfrm>
            <a:off x="676656" y="3209544"/>
            <a:ext cx="914400" cy="0"/>
          </a:xfrm>
          <a:prstGeom prst="line">
            <a:avLst/>
          </a:prstGeom>
          <a:noFill/>
          <a:ln w="19050">
            <a:solidFill>
              <a:srgbClr val="E9C4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3154680"/>
            <a:ext cx="109728" cy="109728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개선방안 · 기대효과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유형별로 다르게, 실행 가능하게, 검증된 모델 위에서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1184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5010912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유형별 방안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‘넓게 분석, 좁게 해결’ — 유형별 차등 개선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64008" cy="69494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2435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정주형 소비부족 — 합천·의령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94760" y="12435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생활밀착 업종 객단가 제고 + 지역화폐·페이백으로 경남 외 소비 회수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93392"/>
            <a:ext cx="64008" cy="69494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0482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통과형 — 산청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94760" y="204825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관광 동선에 결제 가능 로컬 상점 클러스터 + 야간·숙박 연계로 당일 방문을 1박 체류로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98064"/>
            <a:ext cx="64008" cy="694944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8529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외지방문 의존형 — 하동·함양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94760" y="285292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방문객을 묶는 체류·연계 상품 + 계절 편중 완화(비수기 보완)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8229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02736"/>
            <a:ext cx="64008" cy="69494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57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 활용 — 거창·통영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94760" y="36576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안정 지역을 인접 침체지역과 잇는 광역 연계 거점으로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침체라도 원인이 다르면 개선도 다릅니다 — 4.6 원인 분석이 그대로 방안의 근거가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1184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5010912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실행 설계 — 하동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1위 하동 — 실행·KPI까지 설계한 개선 카드</a:t>
            </a:r>
            <a:endParaRPr lang="en-US" sz="2300" dirty="0"/>
          </a:p>
        </p:txBody>
      </p:sp>
      <p:pic>
        <p:nvPicPr>
          <p:cNvPr id="9" name="Image 0" descr="C:/Users/PC/Desktop/빅데이터/깃허브/eum_analysis/phase2/p2_fig13_hadong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743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하동읍·진교면 — 점포는 많지만 체류 인프라가 빈 1순위 지역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188720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188720"/>
            <a:ext cx="64008" cy="896112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3" name="Text 10"/>
          <p:cNvSpPr/>
          <p:nvPr/>
        </p:nvSpPr>
        <p:spPr>
          <a:xfrm>
            <a:off x="4919472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19472" y="1536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체류·야간 콘텐츠 유치 + 지역화폐 페이백 + 화개–하동읍 동선 연계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09160" y="2221992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221992"/>
            <a:ext cx="64008" cy="896112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7" name="Text 14"/>
          <p:cNvSpPr/>
          <p:nvPr/>
        </p:nvSpPr>
        <p:spPr>
          <a:xfrm>
            <a:off x="4919472" y="2295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주체·재원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919472" y="25694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하동군 · 소상공인시장진흥공단 / 지방소멸대응기금 기초지원계정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3255264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3255264"/>
            <a:ext cx="64008" cy="89611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1" name="Text 18"/>
          <p:cNvSpPr/>
          <p:nvPr/>
        </p:nvSpPr>
        <p:spPr>
          <a:xfrm>
            <a:off x="4919472" y="3328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7B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919472" y="36027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객단가 13,240 → 14,240원 · 위험점수 0.865 → 0.848 · 분기 추적(공식 생활인구 통계)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‘집행 가능한 실행안’으로 — 누가, 무슨 돈으로, 무엇을 지표로 삼는지까지.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1184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5010912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실현 가능성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재원·제도 없이, 지금 바로 집행 가능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40050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64008" cy="274320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 — 이미 편성돼 있다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755648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지방소멸대응기금  연 1조 원 × 10년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기초지원계정 95%를 인구감소지역 89곳에 집중 — 경남 11곳 전부 대상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‘머무는 사업 우선’ 전환 → MI·위험점수가 곧 기금의 우선순위·KPI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81728" y="1188720"/>
            <a:ext cx="40050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188720"/>
            <a:ext cx="64008" cy="2743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모델 — 강진 반값여행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1755648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소비액 50%를 지역화폐로 환급 (체류·소비 전환)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1~5월: 4만 724팀 · 1,453개 업소 · 58.7억 원 실측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지역사랑상품권 환전율 99.8% — 역내 환류 실증.  산청·합천·의령 방안의 직접 사례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(a) 편성된 기금 + (b) 법제화된 통계 + (c) 타 지자체 검증 성과 — 분석이 아니라 실행안입니다.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주제선정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938528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데이터·지표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419856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분석 결과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1184" y="246888"/>
            <a:ext cx="64008" cy="64008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5010912" y="1463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개선방안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기대효과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한 잔 값 미만의 변화가 만드는 총량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+78억 원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방문대비 소비부족형 3곳(산청·의령·합천) · 방문 1인당 월 +1,000원 가정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267004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64008" cy="1188720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연평균 생활인구 × 12개월 × Δ객단가 — 부록 A 전면 공개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2971800"/>
            <a:ext cx="267004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73552" y="2971800"/>
            <a:ext cx="64008" cy="1188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3456432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56432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강진 5개월 58.7억 실측 → 달성 가능한 규모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9904" y="2971800"/>
            <a:ext cx="267004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  <a:prstDash val="solid"/>
          </a:ln>
          <a:effectLst>
            <a:outerShdw sx="100000" sy="100000" kx="0" ky="0" algn="bl" rotWithShape="0" blurRad="63500" dist="25400" dir="8100000">
              <a:srgbClr val="1E2A5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2971800"/>
            <a:ext cx="64008" cy="1188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34015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탐색적 추정 — 규모감(order of magnitude) 제시 목적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590288"/>
            <a:ext cx="8229600" cy="3840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590288"/>
            <a:ext cx="64008" cy="384048"/>
          </a:xfrm>
          <a:prstGeom prst="rect">
            <a:avLst/>
          </a:prstGeom>
          <a:solidFill>
            <a:srgbClr val="1E2A52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5902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생활인구는 ‘방문 흐름의 합계’ — 작은 1인당 변화가 큰 총량 효과로 이어집니다.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371600"/>
            <a:ext cx="128016" cy="12801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" y="1435608"/>
            <a:ext cx="118872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83664" y="1371600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침체의 축은 인구가 아니라,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 전환입니다.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E-um은 ‘어디가 침체됐는가’를 넘어 ‘왜, 그래서 무엇을’까지 답하는 재현 가능한 분석 프레임입니다.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이음(E-um) — 2026 경상남도 빅데이터 활용 공모전</dc:title>
  <dc:subject>PptxGenJS Presentation</dc:subject>
  <dc:creator>팀 이음</dc:creator>
  <cp:lastModifiedBy>팀 이음</cp:lastModifiedBy>
  <cp:revision>1</cp:revision>
  <dcterms:created xsi:type="dcterms:W3CDTF">2026-06-11T07:26:29Z</dcterms:created>
  <dcterms:modified xsi:type="dcterms:W3CDTF">2026-06-11T07:26:29Z</dcterms:modified>
</cp:coreProperties>
</file>